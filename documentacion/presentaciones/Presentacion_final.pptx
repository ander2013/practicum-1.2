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341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44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377440"/>
            <a:ext cx="5669280" cy="5669280"/>
          </a:xfrm>
          <a:prstGeom prst="ellipse">
            <a:avLst/>
          </a:prstGeom>
          <a:ln w="15875">
            <a:solidFill>
              <a:srgbClr val="D4A017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011680" y="4937760"/>
            <a:ext cx="4754880" cy="4754880"/>
          </a:xfrm>
          <a:prstGeom prst="ellipse">
            <a:avLst/>
          </a:prstGeom>
          <a:ln w="15875">
            <a:solidFill>
              <a:srgbClr val="D4A01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502920"/>
            <a:ext cx="23317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50292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UTPL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017520" y="48463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General de Tecnologías de la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y Transformación Digital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2331720"/>
            <a:ext cx="3566160" cy="384048"/>
          </a:xfrm>
          <a:prstGeom prst="rect">
            <a:avLst/>
          </a:prstGeom>
          <a:solidFill>
            <a:srgbClr val="16204F"/>
          </a:solidFill>
          <a:ln w="9525">
            <a:solidFill>
              <a:srgbClr val="D4A0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33172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LÍNEA DE DATOS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283464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de datos del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macroentorno ecuatoriano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tablero manual a un pipeline reproducible: limpieza, modelo relacional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dashboard analítico en Power BI.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5623560"/>
            <a:ext cx="2926080" cy="0"/>
          </a:xfrm>
          <a:prstGeom prst="line">
            <a:avLst/>
          </a:prstGeom>
          <a:noFill/>
          <a:ln w="19050">
            <a:solidFill>
              <a:srgbClr val="D4A01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6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de las 7 semanas · Línea 03 — Ingeniería de Datos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Anderstone</a:t>
            </a:r>
            <a:r>
              <a:rPr lang="en-US" sz="12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Paccha</a:t>
            </a:r>
            <a:r>
              <a:rPr lang="en-US" sz="1200" dirty="0">
                <a:solidFill>
                  <a:srgbClr val="AEB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4.º Ciclo  ·  DGTITD — UTPL  ·  Exposición Final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LA PROBLEMÁTICA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tablero manual que nadie podía actualizar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Macroentorno de la UTPL integra indicadores económicos y laborales — pero su mantenimiento dependía de personas, no de un proceso.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642616" y="2253996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871216" y="2391156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871216" y="3140964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PÚBLICAS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871216" y="3442716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BCE, MINEDUC, Supercías y más, integradas en un solo modelo.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28816" y="2253996"/>
            <a:ext cx="342900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57416" y="2391156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D4A0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757416" y="3140964"/>
            <a:ext cx="2971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FALLA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57416" y="3442716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conocimiento vivía en personas — no era reproducible ni escalable.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434840"/>
            <a:ext cx="11109960" cy="1417320"/>
          </a:xfrm>
          <a:prstGeom prst="roundRect">
            <a:avLst>
              <a:gd name="adj" fmla="val 5161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617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48920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un pipeline reproducible — Bronze → Silver → Gold — capaz de responder 3 preguntas analíticas del macroentorno ecuatoriano en un dashboard de Power BI.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FINAL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medallón: Bronze → Silver → Gold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capa tiene una responsabilidad clara — de datos crudos a vistas listas para análisis.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221992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B08D5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2219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crudos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95528" y="3374136"/>
            <a:ext cx="64008" cy="64008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10" name="Text 8"/>
          <p:cNvSpPr/>
          <p:nvPr/>
        </p:nvSpPr>
        <p:spPr>
          <a:xfrm>
            <a:off x="987552" y="323697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CSV de fuentes públicas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" y="4032504"/>
            <a:ext cx="64008" cy="64008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389534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Oracle del RPA (2,3 GB)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" y="4690872"/>
            <a:ext cx="64008" cy="64008"/>
          </a:xfrm>
          <a:prstGeom prst="ellipse">
            <a:avLst/>
          </a:prstGeom>
          <a:solidFill>
            <a:srgbClr val="B08D57"/>
          </a:solidFill>
          <a:ln/>
        </p:spPr>
      </p:sp>
      <p:sp>
        <p:nvSpPr>
          <p:cNvPr id="14" name="Text 12"/>
          <p:cNvSpPr/>
          <p:nvPr/>
        </p:nvSpPr>
        <p:spPr>
          <a:xfrm>
            <a:off x="987552" y="45537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transformar, tal como llegan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986784" y="340614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4224528" y="196596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453128" y="2221992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5B6EAE"/>
          </a:solidFill>
          <a:ln/>
        </p:spPr>
      </p:sp>
      <p:sp>
        <p:nvSpPr>
          <p:cNvPr id="18" name="Text 16"/>
          <p:cNvSpPr/>
          <p:nvPr/>
        </p:nvSpPr>
        <p:spPr>
          <a:xfrm>
            <a:off x="4453128" y="22219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453128" y="27432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relacional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4471416" y="3374136"/>
            <a:ext cx="64008" cy="64008"/>
          </a:xfrm>
          <a:prstGeom prst="ellipse">
            <a:avLst/>
          </a:prstGeom>
          <a:solidFill>
            <a:srgbClr val="5B6EAE"/>
          </a:solidFill>
          <a:ln/>
        </p:spPr>
      </p:sp>
      <p:sp>
        <p:nvSpPr>
          <p:cNvPr id="21" name="Text 19"/>
          <p:cNvSpPr/>
          <p:nvPr/>
        </p:nvSpPr>
        <p:spPr>
          <a:xfrm>
            <a:off x="4663440" y="323697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con Python + pandas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471416" y="4032504"/>
            <a:ext cx="64008" cy="64008"/>
          </a:xfrm>
          <a:prstGeom prst="ellipse">
            <a:avLst/>
          </a:prstGeom>
          <a:solidFill>
            <a:srgbClr val="5B6EAE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0" y="389534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SQLite normalizada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471416" y="4690872"/>
            <a:ext cx="64008" cy="64008"/>
          </a:xfrm>
          <a:prstGeom prst="ellipse">
            <a:avLst/>
          </a:prstGeom>
          <a:solidFill>
            <a:srgbClr val="5B6EAE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45537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7+ tablas: dim_ y fact_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62672" y="340614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4A0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7900416" y="1965960"/>
            <a:ext cx="3429000" cy="352044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29016" y="2221992"/>
            <a:ext cx="1417320" cy="384048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9" name="Text 27"/>
          <p:cNvSpPr/>
          <p:nvPr/>
        </p:nvSpPr>
        <p:spPr>
          <a:xfrm>
            <a:off x="8129016" y="22219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129016" y="2743200"/>
            <a:ext cx="2971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Vistas analíticas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8147304" y="3374136"/>
            <a:ext cx="64008" cy="6400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236976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vistas calculadas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8147304" y="4032504"/>
            <a:ext cx="64008" cy="6400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4" name="Text 32"/>
          <p:cNvSpPr/>
          <p:nvPr/>
        </p:nvSpPr>
        <p:spPr>
          <a:xfrm>
            <a:off x="8339328" y="3895344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 para consumo en Power BI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147304" y="4690872"/>
            <a:ext cx="64008" cy="6400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36" name="Text 34"/>
          <p:cNvSpPr/>
          <p:nvPr/>
        </p:nvSpPr>
        <p:spPr>
          <a:xfrm>
            <a:off x="8339328" y="455371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Responden las 3 preguntas clave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FINAL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STACK TECNOLÓGICO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e integración con RPA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120640" cy="868680"/>
          </a:xfrm>
          <a:prstGeom prst="roundRect">
            <a:avLst>
              <a:gd name="adj" fmla="val 7368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19656"/>
            <a:ext cx="429768" cy="42976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9656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69164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pandas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371600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Limpieza y transformación de las 9 fuentes.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2624328"/>
            <a:ext cx="5120640" cy="868680"/>
          </a:xfrm>
          <a:prstGeom prst="roundRect">
            <a:avLst>
              <a:gd name="adj" fmla="val 7368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" y="2843784"/>
            <a:ext cx="429768" cy="42976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2843784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71576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71600" y="3035808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relacional del alcance de 4.º ciclo.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648456"/>
            <a:ext cx="5120640" cy="868680"/>
          </a:xfrm>
          <a:prstGeom prst="roundRect">
            <a:avLst>
              <a:gd name="adj" fmla="val 7368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3867912"/>
            <a:ext cx="429768" cy="42976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3867912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3739896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371600" y="405993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con 3 páginas analíticas.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672584"/>
            <a:ext cx="5120640" cy="868680"/>
          </a:xfrm>
          <a:prstGeom prst="roundRect">
            <a:avLst>
              <a:gd name="adj" fmla="val 7368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892040"/>
            <a:ext cx="429768" cy="429768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892040"/>
            <a:ext cx="429768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4764024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propio en Python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371600" y="508406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directa con la salida del RPA.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35040" y="1600200"/>
            <a:ext cx="5623560" cy="4160520"/>
          </a:xfrm>
          <a:prstGeom prst="roundRect">
            <a:avLst>
              <a:gd name="adj" fmla="val 2198"/>
            </a:avLst>
          </a:prstGeom>
          <a:solidFill>
            <a:srgbClr val="26307A"/>
          </a:solidFill>
          <a:ln w="15875">
            <a:solidFill>
              <a:srgbClr val="D4A01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5080" y="1920240"/>
            <a:ext cx="2331720" cy="384048"/>
          </a:xfrm>
          <a:prstGeom prst="roundRect">
            <a:avLst>
              <a:gd name="adj" fmla="val 14286"/>
            </a:avLst>
          </a:prstGeom>
          <a:solidFill>
            <a:srgbClr val="D4A017"/>
          </a:solidFill>
          <a:ln/>
        </p:spPr>
      </p:sp>
      <p:sp>
        <p:nvSpPr>
          <p:cNvPr id="26" name="Text 24"/>
          <p:cNvSpPr/>
          <p:nvPr/>
        </p:nvSpPr>
        <p:spPr>
          <a:xfrm>
            <a:off x="6355080" y="19202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RESUELTO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55080" y="2468880"/>
            <a:ext cx="4983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3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2,3 GB de export Oracle, sin motor Oracle disponible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6355080" y="3246120"/>
            <a:ext cx="4983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RPA entrega los datos como un export nativo de Oracle. Instalar el motor no era viable dentro del alcance del reto.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55080" y="4160520"/>
            <a:ext cx="4983480" cy="0"/>
          </a:xfrm>
          <a:prstGeom prst="line">
            <a:avLst/>
          </a:prstGeom>
          <a:noFill/>
          <a:ln w="12700">
            <a:solidFill>
              <a:srgbClr val="45509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55080" y="4315968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355080" y="4590288"/>
            <a:ext cx="4983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 propio en streaming que extrae 8 indicadores directamente del archivo, sin cargarlo completo en memoria ni instalar Oracle.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FINAL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MODELO DE DATOS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9 fuentes a un modelo relacional limpio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de dimensión y de hechos en Silver; vistas ya calculadas en Gold, listas para Power BI.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01600" dist="38100" dir="5400000" algn="bl" rotWithShape="0">
              <a:srgbClr val="1E2761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212848"/>
            <a:ext cx="1371600" cy="365760"/>
          </a:xfrm>
          <a:prstGeom prst="roundRect">
            <a:avLst>
              <a:gd name="adj" fmla="val 15000"/>
            </a:avLst>
          </a:prstGeom>
          <a:solidFill>
            <a:srgbClr val="5B6EAE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1284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Tablas relacionales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3200400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20040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dim_ubicacion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602736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60273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dim_periodo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005072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" y="400507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fact_pib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07408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4407408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fact_empresas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809744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4809744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fact_bachilleres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5212080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5212080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fact_indicadores_macro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" y="5614416"/>
            <a:ext cx="4846320" cy="347472"/>
          </a:xfrm>
          <a:prstGeom prst="roundRect">
            <a:avLst>
              <a:gd name="adj" fmla="val 13158"/>
            </a:avLst>
          </a:prstGeom>
          <a:solidFill>
            <a:srgbClr val="F5F6F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5614416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+ 1 tabla adicional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1965960"/>
            <a:ext cx="5394960" cy="4160520"/>
          </a:xfrm>
          <a:prstGeom prst="roundRect">
            <a:avLst>
              <a:gd name="adj" fmla="val 1978"/>
            </a:avLst>
          </a:prstGeom>
          <a:solidFill>
            <a:srgbClr val="1E2761"/>
          </a:solidFill>
          <a:ln/>
          <a:effectLst>
            <a:outerShdw blurRad="101600" dist="38100" dir="5400000" algn="bl" rotWithShape="0">
              <a:srgbClr val="1E2761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37960" y="2212848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6537960" y="221284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2697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Vistas analíticas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37960" y="3291840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gold_tendencia_pib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37960" y="3584448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del PIB real 2000–2025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37960" y="4005072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gold_wti_promedio_movil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537960" y="429768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petróleo y riesgo país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37960" y="4718304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gold_provincia_empresas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537960" y="501091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VAB y empresas activas por provincia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537960" y="5431536"/>
            <a:ext cx="4846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C6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gold_relacion_bachilleres_empresas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537960" y="572414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bachilleres / empresa activa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FINAL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DASHBOARD — PREGUNTA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¿Cómo evoluciona el macroentorno económico?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general: PIB real, ingreso por habitante, ritmo de crecimiento y expectativas empresariales.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3400" y="1919277"/>
            <a:ext cx="76352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27000" dist="38100" dir="5400000" algn="bl" rotWithShape="0">
              <a:srgbClr val="1E2761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0" y="1920240"/>
            <a:ext cx="3246120" cy="4343400"/>
          </a:xfrm>
          <a:prstGeom prst="roundRect">
            <a:avLst>
              <a:gd name="adj" fmla="val 2254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0" y="246888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PIB creció de 52 mil a 117 mil millones (2000–2025), con una contracción marcada en 2020.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86800" y="3611880"/>
            <a:ext cx="2697480" cy="0"/>
          </a:xfrm>
          <a:prstGeom prst="line">
            <a:avLst/>
          </a:prstGeom>
          <a:noFill/>
          <a:ln w="12700">
            <a:solidFill>
              <a:srgbClr val="3A45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379476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6,94 mil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686800" y="417880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 promedio 2024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686800" y="4507992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3,76 %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686800" y="48920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interanual 2025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686800" y="5221224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117 mil M.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686800" y="560527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PIB real, último dato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· MACROENTORNO</a:t>
            </a:r>
            <a:endParaRPr lang="en-US" sz="900" dirty="0"/>
          </a:p>
        </p:txBody>
      </p:sp>
      <p:pic>
        <p:nvPicPr>
          <p:cNvPr id="22" name="Imagen 21">
            <a:extLst>
              <a:ext uri="{FF2B5EF4-FFF2-40B4-BE49-F238E27FC236}">
                <a16:creationId xmlns:a16="http://schemas.microsoft.com/office/drawing/2014/main" id="{F0212D8D-5112-A827-1271-6EB1689E00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1830404"/>
            <a:ext cx="7711440" cy="469841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DASHBOARD — PREGUNTA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provincias concentran la actividad económica?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Agregado Bruto y empresas activas por provincia, junto al contexto internacional (WTI y riesgo país).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76352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27000" dist="38100" dir="5400000" algn="bl" rotWithShape="0">
              <a:srgbClr val="1E2761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0" y="1920240"/>
            <a:ext cx="3246120" cy="4343400"/>
          </a:xfrm>
          <a:prstGeom prst="roundRect">
            <a:avLst>
              <a:gd name="adj" fmla="val 2254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INSIGHT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0" y="2468880"/>
            <a:ext cx="2697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Guayas y Pichincha concentran la mayor parte del VAB y de las empresas activas del país.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686800" y="3611880"/>
            <a:ext cx="2697480" cy="0"/>
          </a:xfrm>
          <a:prstGeom prst="line">
            <a:avLst/>
          </a:prstGeom>
          <a:noFill/>
          <a:ln w="12700">
            <a:solidFill>
              <a:srgbClr val="3A45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3794760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62,14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686800" y="4178808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del petróleo WTI (USD)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686800" y="4507992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435,00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686800" y="489204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país — EMBI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686800" y="5221224"/>
            <a:ext cx="2697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0C6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686800" y="5605272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Provincias concentran +50%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· CONTEXTO PROVINCIAL</a:t>
            </a:r>
            <a:endParaRPr lang="en-US" sz="9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D0FB951C-0A48-99FF-0687-92E069EA5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41932"/>
            <a:ext cx="7726680" cy="462678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DASHBOARD — PREGUNTA 3 · HALLAZGO CLAVE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hallazgo estratégico: bachilleres vs. oferta laboral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868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de bachilleres de 3.º año por empresa activa, por provincia — la señal más útil para la UTPL.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7635240" cy="4343400"/>
          </a:xfrm>
          <a:prstGeom prst="roundRect">
            <a:avLst>
              <a:gd name="adj" fmla="val 126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  <a:effectLst>
            <a:outerShdw blurRad="127000" dist="38100" dir="5400000" algn="bl" rotWithShape="0">
              <a:srgbClr val="1E2761">
                <a:alpha val="1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412480" y="1920240"/>
            <a:ext cx="3246120" cy="4343400"/>
          </a:xfrm>
          <a:prstGeom prst="roundRect">
            <a:avLst>
              <a:gd name="adj" fmla="val 2254"/>
            </a:avLst>
          </a:prstGeom>
          <a:solidFill>
            <a:srgbClr val="D4A017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0" y="2148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0" y="2468880"/>
            <a:ext cx="2697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Bolívar y Esmeraldas presentan el mayor ratio de bachilleres por empresa activa.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8686800" y="3520440"/>
            <a:ext cx="2697480" cy="0"/>
          </a:xfrm>
          <a:prstGeom prst="line">
            <a:avLst/>
          </a:prstGeom>
          <a:noFill/>
          <a:ln w="12700">
            <a:solidFill>
              <a:srgbClr val="B98A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0" y="3675888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 concentración de jóvenes próximos a graduarse frente a una oferta laboral local limitada.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686800" y="4709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851392" y="4846320"/>
            <a:ext cx="2377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851392" y="5102352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educativa no capturada — relevante para la estrategia de captación de la UTPL.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A9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· HALLAZGO CLAVE</a:t>
            </a:r>
            <a:endParaRPr lang="en-US" sz="90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DD42ED92-0737-FAC3-7010-DD57DE12B7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50" y="1783080"/>
            <a:ext cx="8114682" cy="46908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CONCLUSIONES Y RECOMENDACIONES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aprendí y cómo seguiría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810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10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49808" y="23957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Aprendizaje técnico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294436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Parsear 2,3 GB en formato Oracle en streaming, sin instalar el motor completo.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160020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0168" y="1810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11" name="Text 9"/>
          <p:cNvSpPr/>
          <p:nvPr/>
        </p:nvSpPr>
        <p:spPr>
          <a:xfrm>
            <a:off x="3630168" y="1810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30168" y="23957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Limitación reconocida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30168" y="294436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ENEMDU queda fuera del alcance definido para 4.º ciclo.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09360" y="160020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10528" y="1810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16" name="Text 14"/>
          <p:cNvSpPr/>
          <p:nvPr/>
        </p:nvSpPr>
        <p:spPr>
          <a:xfrm>
            <a:off x="6510528" y="1810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10528" y="23957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Iteración con feedback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10528" y="294436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Semaforización, insights y filtros añadidos tras la revisión del tutor.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89720" y="160020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6204F"/>
          </a:solidFill>
          <a:ln w="12700">
            <a:solidFill>
              <a:srgbClr val="3340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90888" y="181051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4A017"/>
          </a:solidFill>
          <a:ln/>
        </p:spPr>
      </p:sp>
      <p:sp>
        <p:nvSpPr>
          <p:cNvPr id="21" name="Text 19"/>
          <p:cNvSpPr/>
          <p:nvPr/>
        </p:nvSpPr>
        <p:spPr>
          <a:xfrm>
            <a:off x="9390888" y="1810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390888" y="2395728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Recomendación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390888" y="294436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5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pipeline.py con detección continua de archivos entregados por el RPA.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526280"/>
            <a:ext cx="11109960" cy="1508760"/>
          </a:xfrm>
          <a:prstGeom prst="roundRect">
            <a:avLst>
              <a:gd name="adj" fmla="val 5455"/>
            </a:avLst>
          </a:prstGeom>
          <a:solidFill>
            <a:srgbClr val="D4A017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681728"/>
            <a:ext cx="10378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65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“El pipeline pasó de un proceso manual a uno reproducible, documentado y con mejora continua — la base que la UTPL necesita para escalar este tablero.”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6172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— quedo abierto a sus preguntas.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" y="652881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PRÁCTICUM INTERNO · INGENIERÍA DE DATOS · UTPL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76895" y="6528816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82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FINAL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916</Words>
  <Application>Microsoft Office PowerPoint</Application>
  <PresentationFormat>Panorámica</PresentationFormat>
  <Paragraphs>153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Usuario iTC</cp:lastModifiedBy>
  <cp:revision>3</cp:revision>
  <dcterms:created xsi:type="dcterms:W3CDTF">2026-07-23T04:02:45Z</dcterms:created>
  <dcterms:modified xsi:type="dcterms:W3CDTF">2026-07-23T05:09:15Z</dcterms:modified>
</cp:coreProperties>
</file>