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4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ln w="15875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937760"/>
            <a:ext cx="4754880" cy="4754880"/>
          </a:xfrm>
          <a:prstGeom prst="ellipse">
            <a:avLst/>
          </a:prstGeom>
          <a:ln w="15875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31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4846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de Tecnologías de la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Transformación Digital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3566160" cy="384048"/>
          </a:xfrm>
          <a:prstGeom prst="rect">
            <a:avLst/>
          </a:prstGeom>
          <a:solidFill>
            <a:srgbClr val="16204F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317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LÍNEA DE DATOS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datos del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macroentorno ecuatoriano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tablero manual a un pipeline reproducible: limpieza, modelo relacional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dashboard analítico en Power BI.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623560"/>
            <a:ext cx="292608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C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las 7 semanas · Línea 03 — Ingeniería de Datos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Anderstone</a:t>
            </a:r>
            <a:r>
              <a:rPr lang="en-US" sz="12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Paccha</a:t>
            </a:r>
            <a:r>
              <a:rPr lang="en-US" sz="1200" dirty="0">
                <a:solidFill>
                  <a:srgbClr val="AE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4.º Ciclo  ·  DGTITD — UTPL  ·  Exposición Final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LA PROBLEMÁTICA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manual que nadie podía actualizar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Macroentorno de la UTPL integra indicadores económicos y laborales — pero su mantenimiento dependía de personas, no de un proceso.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42616" y="2253996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71216" y="239115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871216" y="31409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71216" y="3442716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BCE, MINEDUC, Supercías y más, integradas en un solo modelo.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28816" y="2253996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239115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757416" y="31409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FALLA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57416" y="3442716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vivía en personas — no era reproducible ni escalable.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un pipeline reproducible — Bronze → Silver → Gold — capaz de responder 3 preguntas analíticas del macroentorno ecuatoriano en un dashboard de Power BI.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medallón: Bronze → Silver → Gold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responsabilidad clara — de datos crudos a vistas listas para análisis.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21992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219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crudos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" y="3374136"/>
            <a:ext cx="64008" cy="6400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2369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de fuentes públicas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4032504"/>
            <a:ext cx="64008" cy="6400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8953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Oracle del RPA (2,3 GB)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4690872"/>
            <a:ext cx="64008" cy="6400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5537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transformar, tal como llegan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86784" y="34061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224528" y="196596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53128" y="2221992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5B6EAE"/>
          </a:solidFill>
          <a:ln/>
        </p:spPr>
      </p:sp>
      <p:sp>
        <p:nvSpPr>
          <p:cNvPr id="18" name="Text 16"/>
          <p:cNvSpPr/>
          <p:nvPr/>
        </p:nvSpPr>
        <p:spPr>
          <a:xfrm>
            <a:off x="4453128" y="22219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53128" y="2743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relacional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71416" y="3374136"/>
            <a:ext cx="64008" cy="64008"/>
          </a:xfrm>
          <a:prstGeom prst="ellipse">
            <a:avLst/>
          </a:prstGeom>
          <a:solidFill>
            <a:srgbClr val="5B6EAE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2369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con Python + pandas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71416" y="4032504"/>
            <a:ext cx="64008" cy="64008"/>
          </a:xfrm>
          <a:prstGeom prst="ellipse">
            <a:avLst/>
          </a:prstGeom>
          <a:solidFill>
            <a:srgbClr val="5B6EAE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953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SQLite normalizada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71416" y="4690872"/>
            <a:ext cx="64008" cy="64008"/>
          </a:xfrm>
          <a:prstGeom prst="ellipse">
            <a:avLst/>
          </a:prstGeom>
          <a:solidFill>
            <a:srgbClr val="5B6EA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5537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tablas: dim_ y fact_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62672" y="34061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900416" y="196596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016" y="2221992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8129016" y="22219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29016" y="2743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Vistas analíticas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47304" y="3374136"/>
            <a:ext cx="64008" cy="6400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32369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vistas calculadas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47304" y="4032504"/>
            <a:ext cx="64008" cy="6400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4" name="Text 32"/>
          <p:cNvSpPr/>
          <p:nvPr/>
        </p:nvSpPr>
        <p:spPr>
          <a:xfrm>
            <a:off x="8339328" y="38953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para consumo en Power BI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47304" y="4690872"/>
            <a:ext cx="64008" cy="6400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5537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las 3 preguntas clave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e integración con RPA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19656"/>
            <a:ext cx="429768" cy="4297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transformación de las 9 fuentes.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843784"/>
            <a:ext cx="429768" cy="4297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43784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15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3035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relacional del alcance de 4.º ciclo.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67912"/>
            <a:ext cx="429768" cy="4297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67912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7398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3 páginas analíticas.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892040"/>
            <a:ext cx="429768" cy="4297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892040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764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propio en Python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508406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la salida del RPA.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600200"/>
            <a:ext cx="5623560" cy="4160520"/>
          </a:xfrm>
          <a:prstGeom prst="roundRect">
            <a:avLst>
              <a:gd name="adj" fmla="val 2198"/>
            </a:avLst>
          </a:prstGeom>
          <a:solidFill>
            <a:srgbClr val="26307A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9202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9202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RESUELTO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4688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 GB de export Oracle, sin motor Oracle disponible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55080" y="3246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RPA entrega los datos como un export nativo de Oracle. Instalar el motor no era viable dentro del alcance del reto.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160520"/>
            <a:ext cx="4983480" cy="0"/>
          </a:xfrm>
          <a:prstGeom prst="line">
            <a:avLst/>
          </a:prstGeom>
          <a:noFill/>
          <a:ln w="12700">
            <a:solidFill>
              <a:srgbClr val="4550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4590288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propio en streaming que extrae 8 indicadores directamente del archivo, sin cargarlo completo en memoria ni instalar Oracle.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9 fuentes a un modelo relacional limpio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dimensión y de hechos en Silver; vistas ya calculadas en Gold, listas para Power BI.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5B6EA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relacionales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00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dim_ubicacion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02736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027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dim_periodo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05072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050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fact_pib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407408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074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fact_empresas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80974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8097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fact_bachilleres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212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fact_indicadores_macro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614416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6144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+ 1 tabla adicional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221284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2128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Vistas analíticas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32918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C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gold_tendencia_pib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584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PIB real 2000–2025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40050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C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gold_wti_promedio_movil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del petróleo y riesgo país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471830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C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gold_provincia_empresas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37960" y="50109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 y empresas activas por provincia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543153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C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gold_relacion_bachilleres_empresas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37960" y="57241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bachilleres / empresa activa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DASHBOARD — 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evoluciona el macroentorno económico?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general: PIB real, ingreso por habitante, ritmo de crecimiento y expectativas empresariales.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400" y="1919277"/>
            <a:ext cx="7635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0" y="192024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46888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PIB creció de 52 mil a 117 mil millones (2000–2025), con una contracción marcada en 2020.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3611880"/>
            <a:ext cx="26974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7947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6,94 mil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0" y="41788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promedio 2024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0" y="450799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3,76 %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86800" y="4892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interanual 2025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0" y="522122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 mil M.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0" y="5605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real, último dato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MACROENTORNO</a:t>
            </a:r>
            <a:endParaRPr lang="en-US" sz="9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0212D8D-5112-A827-1271-6EB1689E0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830404"/>
            <a:ext cx="7711440" cy="4698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DASHBOARD — 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provincias concentran la actividad económica?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 Bruto y empresas activas por provincia, junto al contexto internacional (WTI y riesgo país).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635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0" y="192024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46888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Guayas y Pichincha concentran la mayor parte del VAB y de las empresas activas del país.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3611880"/>
            <a:ext cx="26974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7947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62,14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0" y="41788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del petróleo WTI (USD)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0" y="450799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435,00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86800" y="4892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país — EMBI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0" y="522122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0" y="5605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 concentran +50%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CONTEXTO PROVINCIAL</a:t>
            </a:r>
            <a:endParaRPr lang="en-US" sz="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0FB951C-0A48-99FF-0687-92E069EA5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1932"/>
            <a:ext cx="7726680" cy="4626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DASHBOARD — PREGUNTA 3 · HALLAZGO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hallazgo estratégico: bachilleres vs. oferta laboral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bachilleres de 3.º año por empresa activa, por provincia — la señal más útil para la UTPL.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6352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0" y="192024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468880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Bolívar y Esmeraldas presentan el mayor ratio de bachilleres por empresa activa.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686800" y="3520440"/>
            <a:ext cx="2697480" cy="0"/>
          </a:xfrm>
          <a:prstGeom prst="line">
            <a:avLst/>
          </a:prstGeom>
          <a:noFill/>
          <a:ln w="12700">
            <a:solidFill>
              <a:srgbClr val="B98A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675888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concentración de jóvenes próximos a graduarse frente a una oferta laboral local limitada.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0" y="4709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851392" y="4846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851392" y="51023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educativa no capturada — relevante para la estrategia de captación de la UTPL.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HALLAZGO CLAVE</a:t>
            </a:r>
            <a:endParaRPr lang="en-US" sz="9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D42ED92-0737-FAC3-7010-DD57DE12B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50" y="1783080"/>
            <a:ext cx="8114682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CONCLUSIONES Y RECOMENDACIONES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aprendí y cómo seguiría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técnico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Parsear 2,3 GB en formato Oracle en streaming, sin instalar el motor completo.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016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60520" y="160020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s-EC" dirty="0"/>
          </a:p>
        </p:txBody>
      </p:sp>
      <p:sp>
        <p:nvSpPr>
          <p:cNvPr id="16" name="Text 14"/>
          <p:cNvSpPr/>
          <p:nvPr/>
        </p:nvSpPr>
        <p:spPr>
          <a:xfrm>
            <a:off x="436168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/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61688" y="2395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 con feedback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61688" y="294436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Semaforización, insights y filtros añadidos tras la revisión del tutor.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97142" y="1633086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6204F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8310" y="184339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7798310" y="184339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98310" y="242861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98310" y="2977254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pipeline.py con detección continua de archivos entregados por el RPA.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81728"/>
            <a:ext cx="10378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pipeline pasó de un proceso manual a uno reproducible, documentado y con mejora continua — la base que la UTPL necesita para escalar este tablero.”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quedo abierto a sus preguntas.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902</Words>
  <Application>Microsoft Office PowerPoint</Application>
  <PresentationFormat>Panorámica</PresentationFormat>
  <Paragraphs>151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 iTC</cp:lastModifiedBy>
  <cp:revision>4</cp:revision>
  <dcterms:created xsi:type="dcterms:W3CDTF">2026-07-23T04:02:45Z</dcterms:created>
  <dcterms:modified xsi:type="dcterms:W3CDTF">2026-07-24T15:57:35Z</dcterms:modified>
</cp:coreProperties>
</file>